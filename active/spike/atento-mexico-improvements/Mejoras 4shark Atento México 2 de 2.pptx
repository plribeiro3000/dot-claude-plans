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71" r:id="rId9"/>
    <p:sldId id="264" r:id="rId10"/>
    <p:sldId id="268" r:id="rId11"/>
    <p:sldId id="269" r:id="rId12"/>
    <p:sldId id="270" r:id="rId13"/>
    <p:sldId id="267" r:id="rId14"/>
    <p:sldId id="272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310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68726-495D-BE95-D939-DD2D77F28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5B3A53-32DC-E49E-8148-D3C656604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93901-557E-98EE-82B3-1F988BDD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07D8F5-F31C-96E0-0151-5ADD5898F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391E58-6BD1-050E-7E2A-C774CA45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5047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483DA-5582-E41D-7DFA-02937115F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3B1212-005E-D8E8-B685-5D0A28116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CF4343-37FE-7254-F3E1-3B3BDE12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B0CFB4-99AC-6A3C-58CD-2F347DB96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C2F636-B038-B3C2-71EE-71E15D4BF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793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64FED-ADFB-3280-DA6A-54D239F96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3AA027-62C5-CC9B-2BE2-35EE8448C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428D53-A19F-1F6E-0A38-5969AB7C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E3020E-DA08-8B76-2182-C9E12526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F0A499-E35A-069C-1C30-5C718BDE5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6821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7CA5F-2FD0-5670-80AD-EF2F1DC2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3CCD85-140A-EEF2-8615-BE62964073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92697B-C68E-01AD-1D16-5EC0FFE69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4BFFB6-533A-7EA2-5599-9066ADFC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4D4C72-EC93-60E6-99DC-5A44C696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F0C5910-C5DD-6F9A-B4C0-C5CF8BBB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295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C132B-3DF8-0AED-87F1-B69638FE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48A6B-CE0F-C02A-2CB6-EFE654AD2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2A82D9-E670-BF7E-AA22-FD55644CE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962D6CC-A1DB-C50F-7A78-F28A58FA2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32CF6-B38B-015E-C7B9-DB7D2E831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96CA4E-4A7C-69E5-5AE3-1F9D04F1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54C1A0-DF25-0145-3C0A-806514A4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83136A-749A-E499-57B5-42F7B292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7339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36793-6F83-DDD5-4A09-EDBA7722D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19F89DB-2D93-96DF-21A2-7B62269F2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42DCFEE-9C9B-53D3-A7ED-1935F69D5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6D37E73-1B88-F573-3572-726C6036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0653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7973CF-40D0-F15F-2955-CAE9D721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661861-1ED3-F9EC-3119-FB217437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8D7808-4411-63BC-75E7-722885139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3002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4E086-5C98-6FC5-F790-244B4694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4DD898-909B-C3F4-AD4F-FCE92B8AD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DEF3BB-E4CB-AF2F-A8D4-E61E0227A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8D9ED4-5380-438A-E484-DE3E0B34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ADC592-7E58-AC5D-6709-6574EDFA9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2E7A93-688E-C8D6-5BB2-ED5C1D9C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103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77B19-DF1E-2750-56B2-FCF1A6585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BF3E436-001C-90A3-1D71-C2A26E332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22FB90-7D6F-B6C9-060D-913B837C1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B65628-23DA-1093-F132-93E8B59C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60FE91-8FB1-8E5C-B388-BD94F3FB6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83B95E-DC5B-9405-FC87-28395ABA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970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28E5B-D4EA-C67E-F84B-0602AB80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34A1D3-1511-A2A0-653B-4AA342D4F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6D78B-C66C-C348-B0DB-EBA05117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CF49DC-ECE0-6E64-8D3C-28F58AC4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4AE140-7EE1-FEA5-E233-254985942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77093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9AF50F-F6B0-27D5-2C93-995AD0739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333D0B-D453-489B-8364-F18128864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3EB7A-5F43-7E7E-DFAD-1C62FCCA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98183D-4F14-99D4-9C32-624EEB8B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534814-2738-DD94-836B-67217A8E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0287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1D6939-7B04-DD23-FA89-76F95B99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28F2C3-421E-9C16-E350-F76A8409B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4E74CF-52B8-99D0-87DC-2D74C3F49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A4D97-BC5D-4794-9B38-E93359C89CE9}" type="datetimeFigureOut">
              <a:rPr lang="es-MX" smtClean="0"/>
              <a:t>20/01/2026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EAC9AA-F1A4-D8B6-0528-4B09BAD06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F39BC3-1B95-D488-F6B6-2F7A524DE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86688-5A6E-4FF5-8B17-7AA858CAC57D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2367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681B-9EAF-A8A3-67D5-A3B6CB6E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CF59FC9-C651-1187-F39F-1220FE6B1134}"/>
              </a:ext>
            </a:extLst>
          </p:cNvPr>
          <p:cNvSpPr txBox="1"/>
          <p:nvPr/>
        </p:nvSpPr>
        <p:spPr>
          <a:xfrm>
            <a:off x="247650" y="400050"/>
            <a:ext cx="701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LayOut para modificación de datos generales del colaborador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7AAFBCD0-CA35-7732-2BFD-2729BB7051EC}"/>
              </a:ext>
            </a:extLst>
          </p:cNvPr>
          <p:cNvGraphicFramePr>
            <a:graphicFrameLocks noGrp="1"/>
          </p:cNvGraphicFramePr>
          <p:nvPr/>
        </p:nvGraphicFramePr>
        <p:xfrm>
          <a:off x="371475" y="1894236"/>
          <a:ext cx="11610971" cy="747015"/>
        </p:xfrm>
        <a:graphic>
          <a:graphicData uri="http://schemas.openxmlformats.org/drawingml/2006/table">
            <a:tbl>
              <a:tblPr/>
              <a:tblGrid>
                <a:gridCol w="1031405">
                  <a:extLst>
                    <a:ext uri="{9D8B030D-6E8A-4147-A177-3AD203B41FA5}">
                      <a16:colId xmlns:a16="http://schemas.microsoft.com/office/drawing/2014/main" val="239769178"/>
                    </a:ext>
                  </a:extLst>
                </a:gridCol>
                <a:gridCol w="1401588">
                  <a:extLst>
                    <a:ext uri="{9D8B030D-6E8A-4147-A177-3AD203B41FA5}">
                      <a16:colId xmlns:a16="http://schemas.microsoft.com/office/drawing/2014/main" val="3857959107"/>
                    </a:ext>
                  </a:extLst>
                </a:gridCol>
                <a:gridCol w="911416">
                  <a:extLst>
                    <a:ext uri="{9D8B030D-6E8A-4147-A177-3AD203B41FA5}">
                      <a16:colId xmlns:a16="http://schemas.microsoft.com/office/drawing/2014/main" val="2177359987"/>
                    </a:ext>
                  </a:extLst>
                </a:gridCol>
                <a:gridCol w="919074">
                  <a:extLst>
                    <a:ext uri="{9D8B030D-6E8A-4147-A177-3AD203B41FA5}">
                      <a16:colId xmlns:a16="http://schemas.microsoft.com/office/drawing/2014/main" val="1100328105"/>
                    </a:ext>
                  </a:extLst>
                </a:gridCol>
                <a:gridCol w="1123313">
                  <a:extLst>
                    <a:ext uri="{9D8B030D-6E8A-4147-A177-3AD203B41FA5}">
                      <a16:colId xmlns:a16="http://schemas.microsoft.com/office/drawing/2014/main" val="2969229019"/>
                    </a:ext>
                  </a:extLst>
                </a:gridCol>
                <a:gridCol w="908863">
                  <a:extLst>
                    <a:ext uri="{9D8B030D-6E8A-4147-A177-3AD203B41FA5}">
                      <a16:colId xmlns:a16="http://schemas.microsoft.com/office/drawing/2014/main" val="4182649385"/>
                    </a:ext>
                  </a:extLst>
                </a:gridCol>
                <a:gridCol w="451878">
                  <a:extLst>
                    <a:ext uri="{9D8B030D-6E8A-4147-A177-3AD203B41FA5}">
                      <a16:colId xmlns:a16="http://schemas.microsoft.com/office/drawing/2014/main" val="3812897153"/>
                    </a:ext>
                  </a:extLst>
                </a:gridCol>
                <a:gridCol w="574422">
                  <a:extLst>
                    <a:ext uri="{9D8B030D-6E8A-4147-A177-3AD203B41FA5}">
                      <a16:colId xmlns:a16="http://schemas.microsoft.com/office/drawing/2014/main" val="4189197792"/>
                    </a:ext>
                  </a:extLst>
                </a:gridCol>
                <a:gridCol w="612716">
                  <a:extLst>
                    <a:ext uri="{9D8B030D-6E8A-4147-A177-3AD203B41FA5}">
                      <a16:colId xmlns:a16="http://schemas.microsoft.com/office/drawing/2014/main" val="3383281007"/>
                    </a:ext>
                  </a:extLst>
                </a:gridCol>
                <a:gridCol w="612716">
                  <a:extLst>
                    <a:ext uri="{9D8B030D-6E8A-4147-A177-3AD203B41FA5}">
                      <a16:colId xmlns:a16="http://schemas.microsoft.com/office/drawing/2014/main" val="2091848751"/>
                    </a:ext>
                  </a:extLst>
                </a:gridCol>
                <a:gridCol w="612716">
                  <a:extLst>
                    <a:ext uri="{9D8B030D-6E8A-4147-A177-3AD203B41FA5}">
                      <a16:colId xmlns:a16="http://schemas.microsoft.com/office/drawing/2014/main" val="3665044395"/>
                    </a:ext>
                  </a:extLst>
                </a:gridCol>
                <a:gridCol w="612716">
                  <a:extLst>
                    <a:ext uri="{9D8B030D-6E8A-4147-A177-3AD203B41FA5}">
                      <a16:colId xmlns:a16="http://schemas.microsoft.com/office/drawing/2014/main" val="2256428700"/>
                    </a:ext>
                  </a:extLst>
                </a:gridCol>
                <a:gridCol w="612716">
                  <a:extLst>
                    <a:ext uri="{9D8B030D-6E8A-4147-A177-3AD203B41FA5}">
                      <a16:colId xmlns:a16="http://schemas.microsoft.com/office/drawing/2014/main" val="1227722445"/>
                    </a:ext>
                  </a:extLst>
                </a:gridCol>
                <a:gridCol w="612716">
                  <a:extLst>
                    <a:ext uri="{9D8B030D-6E8A-4147-A177-3AD203B41FA5}">
                      <a16:colId xmlns:a16="http://schemas.microsoft.com/office/drawing/2014/main" val="1794417930"/>
                    </a:ext>
                  </a:extLst>
                </a:gridCol>
                <a:gridCol w="612716">
                  <a:extLst>
                    <a:ext uri="{9D8B030D-6E8A-4147-A177-3AD203B41FA5}">
                      <a16:colId xmlns:a16="http://schemas.microsoft.com/office/drawing/2014/main" val="2155736605"/>
                    </a:ext>
                  </a:extLst>
                </a:gridCol>
              </a:tblGrid>
              <a:tr h="4956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email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contraseÃ±a</a:t>
                      </a:r>
                      <a:endParaRPr lang="es-MX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primer nombre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apellido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documento unico curp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ciudad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estado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id_externo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Departamento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nivel de acceso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 externo del gerente inmediato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  subsidiaria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tipo de documento unico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 subsidiaria gestor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dni de la subsidiaria del gerente inmediato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415186"/>
                  </a:ext>
                </a:extLst>
              </a:tr>
              <a:tr h="251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15119@atento.com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SARC880223LB8*AtentoMX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CALIPSO CASANDRA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SALAZAR RODRIGUEZ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SARC880223LB8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Ciudad de Mexico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MX-MEX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15119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ATENTO_MEXICO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SalesRepresentative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MX_RFC_PERSON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943" marR="6943" marT="6943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519339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4471184-8EA1-0616-775F-30CEB63C9FCA}"/>
              </a:ext>
            </a:extLst>
          </p:cNvPr>
          <p:cNvSpPr txBox="1"/>
          <p:nvPr/>
        </p:nvSpPr>
        <p:spPr>
          <a:xfrm>
            <a:off x="247651" y="1072014"/>
            <a:ext cx="10853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Poder cambiar el estatus entre activo / dado de baja o cualquier dato del colaborador de una forma mas rápida incluyendo la contraseña actual o correo electrónico. 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3FE6D0DD-C748-CD5B-AE11-4E805E9ED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4" y="2989506"/>
            <a:ext cx="11689461" cy="363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6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908A3-81DE-09E9-A27B-A25D4F777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F1D8698-1AB4-CBD2-0455-BA7C41E43E20}"/>
              </a:ext>
            </a:extLst>
          </p:cNvPr>
          <p:cNvSpPr txBox="1"/>
          <p:nvPr/>
        </p:nvSpPr>
        <p:spPr>
          <a:xfrm>
            <a:off x="247650" y="400050"/>
            <a:ext cx="701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Confirmar la funcionalidad del menú Usuarios / Identificaciones: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29230B-60CB-41BD-EC9C-88034D3542C6}"/>
              </a:ext>
            </a:extLst>
          </p:cNvPr>
          <p:cNvSpPr txBox="1"/>
          <p:nvPr/>
        </p:nvSpPr>
        <p:spPr>
          <a:xfrm>
            <a:off x="247651" y="1072014"/>
            <a:ext cx="1085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Actualmente se desconoce su funcionalidad.</a:t>
            </a:r>
          </a:p>
        </p:txBody>
      </p:sp>
      <p:pic>
        <p:nvPicPr>
          <p:cNvPr id="7" name="Imagen 6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FF514AAE-4A6A-8069-D92C-4C47A349C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2124075"/>
            <a:ext cx="11830050" cy="41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49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3C63-55A0-50C6-4D2E-C93DFC9A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ABC06D7-B5A0-3673-F819-4E17D80E6064}"/>
              </a:ext>
            </a:extLst>
          </p:cNvPr>
          <p:cNvSpPr txBox="1"/>
          <p:nvPr/>
        </p:nvSpPr>
        <p:spPr>
          <a:xfrm>
            <a:off x="247650" y="400050"/>
            <a:ext cx="1110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Crear un proceso de importación en modulo de Grupos / Crear Grupos para crear de grupos de forma masiva y no 1 por 1</a:t>
            </a:r>
          </a:p>
        </p:txBody>
      </p:sp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7177DF16-5222-7B4F-DF3E-7CACCE0C2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" y="2314544"/>
            <a:ext cx="12065000" cy="433390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D715993-3427-2B73-07AC-4DE8F04F3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385" y="1373724"/>
            <a:ext cx="866896" cy="495369"/>
          </a:xfrm>
          <a:prstGeom prst="rect">
            <a:avLst/>
          </a:prstGeom>
        </p:spPr>
      </p:pic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F0C8720-8BA9-9DAA-121F-8AFE4AFC9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1373725"/>
            <a:ext cx="1038370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95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4CC3E-DE6E-C49B-3924-7358FEA9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6A266C9-4BB7-F1FC-9FDF-E6D615C4F734}"/>
              </a:ext>
            </a:extLst>
          </p:cNvPr>
          <p:cNvSpPr txBox="1"/>
          <p:nvPr/>
        </p:nvSpPr>
        <p:spPr>
          <a:xfrm>
            <a:off x="247650" y="400050"/>
            <a:ext cx="1110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Crear un proceso de importación en modulo de Planes / Crear Plan para crear de grupos de forma masiva y no 1 por 1</a:t>
            </a:r>
          </a:p>
        </p:txBody>
      </p:sp>
      <p:pic>
        <p:nvPicPr>
          <p:cNvPr id="5" name="Imagen 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5EA28425-BC2E-6BA3-B03F-4EDF0B506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712874"/>
            <a:ext cx="11791950" cy="49800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2B8F035-A7F7-78AA-39A4-A5F48E112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385" y="1104916"/>
            <a:ext cx="866896" cy="495369"/>
          </a:xfrm>
          <a:prstGeom prst="rect">
            <a:avLst/>
          </a:prstGeom>
        </p:spPr>
      </p:pic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B1C2F19E-C904-6254-5AB6-53609D59E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1104917"/>
            <a:ext cx="1038370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28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4A04-59E5-91A8-64B0-2049D247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9D3D6ED-78F4-2A53-3D3A-5CAA40A05536}"/>
              </a:ext>
            </a:extLst>
          </p:cNvPr>
          <p:cNvSpPr txBox="1"/>
          <p:nvPr/>
        </p:nvSpPr>
        <p:spPr>
          <a:xfrm>
            <a:off x="247650" y="400050"/>
            <a:ext cx="11106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listas desplegables de calendarios dentro del modulo de Planes / Crear Plan se muestren por orden de Id Calendario de mayor a menor y no por orden alfabético. </a:t>
            </a:r>
          </a:p>
          <a:p>
            <a:endParaRPr lang="es-MX" dirty="0"/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0AA50C3-CDCA-9174-6C34-F997A744F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278835"/>
            <a:ext cx="11779250" cy="2505765"/>
          </a:xfrm>
          <a:prstGeom prst="rect">
            <a:avLst/>
          </a:prstGeom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F9E7B826-49F4-3CE0-54EB-D83264610182}"/>
              </a:ext>
            </a:extLst>
          </p:cNvPr>
          <p:cNvSpPr/>
          <p:nvPr/>
        </p:nvSpPr>
        <p:spPr>
          <a:xfrm>
            <a:off x="7277100" y="3048000"/>
            <a:ext cx="7112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7" name="Imagen 6" descr="Imagen que contiene computadora, computer, interior, montón&#10;&#10;El contenido generado por IA puede ser incorrecto.">
            <a:extLst>
              <a:ext uri="{FF2B5EF4-FFF2-40B4-BE49-F238E27FC236}">
                <a16:creationId xmlns:a16="http://schemas.microsoft.com/office/drawing/2014/main" id="{7A47D4DC-A01E-FDFF-7C66-FBA50F5BC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3949701"/>
            <a:ext cx="11779250" cy="2799202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AA5FD554-E9B8-1E1C-E444-A99158DD19F0}"/>
              </a:ext>
            </a:extLst>
          </p:cNvPr>
          <p:cNvSpPr/>
          <p:nvPr/>
        </p:nvSpPr>
        <p:spPr>
          <a:xfrm rot="9029823">
            <a:off x="3149601" y="4714185"/>
            <a:ext cx="711200" cy="381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1913F25A-2EC3-C6CA-4004-3191056624C6}"/>
              </a:ext>
            </a:extLst>
          </p:cNvPr>
          <p:cNvSpPr/>
          <p:nvPr/>
        </p:nvSpPr>
        <p:spPr>
          <a:xfrm rot="9029823">
            <a:off x="1155701" y="5158801"/>
            <a:ext cx="711200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52A48CC2-B3B7-BC5A-090D-265BC2A9EA3E}"/>
              </a:ext>
            </a:extLst>
          </p:cNvPr>
          <p:cNvSpPr/>
          <p:nvPr/>
        </p:nvSpPr>
        <p:spPr>
          <a:xfrm rot="19603514">
            <a:off x="10731501" y="2695587"/>
            <a:ext cx="711200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0835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6CD16-C0EF-C4CE-4FA2-02C90E86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C556472-8E84-1FA2-945B-D034DA646EF4}"/>
              </a:ext>
            </a:extLst>
          </p:cNvPr>
          <p:cNvSpPr txBox="1"/>
          <p:nvPr/>
        </p:nvSpPr>
        <p:spPr>
          <a:xfrm>
            <a:off x="247650" y="400050"/>
            <a:ext cx="1110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pantalla Parciales donde se muestra el listado de parciales generados, cada línea contenga el importe final generado y muestre grupo asociado además de indicar el numero de personas que contiene dicho grupo.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92C1B4FC-135B-C489-91CF-54EA7457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182"/>
            <a:ext cx="12192000" cy="3354274"/>
          </a:xfrm>
          <a:prstGeom prst="rect">
            <a:avLst/>
          </a:prstGeom>
        </p:spPr>
      </p:pic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BC14AB9C-D54F-CA48-26FC-143A8BCD4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468" y="4898914"/>
            <a:ext cx="7259063" cy="790685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6B53BF88-B34C-6B07-6864-746BDA696115}"/>
              </a:ext>
            </a:extLst>
          </p:cNvPr>
          <p:cNvSpPr/>
          <p:nvPr/>
        </p:nvSpPr>
        <p:spPr>
          <a:xfrm rot="17771382">
            <a:off x="3777041" y="4002073"/>
            <a:ext cx="1647588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4B6A4FF0-7813-EFAC-EA6E-A5972F186C5C}"/>
              </a:ext>
            </a:extLst>
          </p:cNvPr>
          <p:cNvSpPr/>
          <p:nvPr/>
        </p:nvSpPr>
        <p:spPr>
          <a:xfrm rot="17771382">
            <a:off x="6606649" y="4002073"/>
            <a:ext cx="1647588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378A4F43-5A69-CD1F-037E-5805DF6B6F71}"/>
              </a:ext>
            </a:extLst>
          </p:cNvPr>
          <p:cNvSpPr/>
          <p:nvPr/>
        </p:nvSpPr>
        <p:spPr>
          <a:xfrm rot="17771382">
            <a:off x="9149141" y="4061798"/>
            <a:ext cx="1647588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30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7F0F-C269-6FAA-A567-090ADB455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34D101E-A639-BC49-D638-235438FBEA45}"/>
              </a:ext>
            </a:extLst>
          </p:cNvPr>
          <p:cNvSpPr txBox="1"/>
          <p:nvPr/>
        </p:nvSpPr>
        <p:spPr>
          <a:xfrm>
            <a:off x="247650" y="400050"/>
            <a:ext cx="11106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pantalla Parciales donde se muestra el listado de parciales generados, se agregue la opción de crear lote de parciales y generar lote de parciales para crear un listado especifico de parciales y no 1 por 1, además de retirar el candado de poder crear un lote de parciales cada 24 horas.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6BACB32-5030-FF47-B678-A2FDADC72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182"/>
            <a:ext cx="12192000" cy="3354274"/>
          </a:xfrm>
          <a:prstGeom prst="rect">
            <a:avLst/>
          </a:prstGeom>
        </p:spPr>
      </p:pic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8153438-E269-9BFD-E3AC-AE4AC5424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334" y="5121896"/>
            <a:ext cx="2000529" cy="48584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757BCEC-7606-CCCE-84C7-7930AEE9F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525" y="5882179"/>
            <a:ext cx="2429214" cy="466790"/>
          </a:xfrm>
          <a:prstGeom prst="rect">
            <a:avLst/>
          </a:prstGeom>
        </p:spPr>
      </p:pic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8271FCFD-2F7C-11B8-7453-203B0A4DCB5A}"/>
              </a:ext>
            </a:extLst>
          </p:cNvPr>
          <p:cNvSpPr/>
          <p:nvPr/>
        </p:nvSpPr>
        <p:spPr>
          <a:xfrm>
            <a:off x="957314" y="5121896"/>
            <a:ext cx="2633745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577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1279-08D8-C440-68ED-E30D52F2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EC52F51-C44A-E57F-8B3A-1BBB188D2A32}"/>
              </a:ext>
            </a:extLst>
          </p:cNvPr>
          <p:cNvSpPr txBox="1"/>
          <p:nvPr/>
        </p:nvSpPr>
        <p:spPr>
          <a:xfrm>
            <a:off x="247650" y="400050"/>
            <a:ext cx="11106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pantalla Parciales todos los informe por plan de pago sean generado en automático y por solicitud.</a:t>
            </a: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390E4D55-D6D8-2542-9237-A0CC952BD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8171"/>
            <a:ext cx="12192000" cy="2565400"/>
          </a:xfrm>
          <a:prstGeom prst="rect">
            <a:avLst/>
          </a:prstGeom>
        </p:spPr>
      </p:pic>
      <p:pic>
        <p:nvPicPr>
          <p:cNvPr id="9" name="Imagen 8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17E59518-FAB9-5CC1-DB16-8596C9858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4839"/>
            <a:ext cx="12192000" cy="307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38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39BA-5B5B-EDAB-E8D7-429FB06E2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A33C4B1-5084-2B0A-EDFE-0A429AD15963}"/>
              </a:ext>
            </a:extLst>
          </p:cNvPr>
          <p:cNvSpPr txBox="1"/>
          <p:nvPr/>
        </p:nvSpPr>
        <p:spPr>
          <a:xfrm>
            <a:off x="247650" y="400050"/>
            <a:ext cx="1110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el modulo de parciales que en el resultado consultable muestre el mismo resumen de los datos generales del plan como cuando el plan es creado.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528EB55-606A-718A-9062-9ECE2AF9D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2174"/>
            <a:ext cx="12017829" cy="295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1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743E-6EBF-31CF-6EDB-4F609522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47BFB84-29DA-D499-9B4D-350E867C0688}"/>
              </a:ext>
            </a:extLst>
          </p:cNvPr>
          <p:cNvSpPr txBox="1"/>
          <p:nvPr/>
        </p:nvSpPr>
        <p:spPr>
          <a:xfrm>
            <a:off x="247650" y="400050"/>
            <a:ext cx="11106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pantalla Compensaciones, poder entregar un </a:t>
            </a:r>
            <a:r>
              <a:rPr lang="es-MX" dirty="0" err="1"/>
              <a:t>Layout</a:t>
            </a:r>
            <a:r>
              <a:rPr lang="es-MX" dirty="0"/>
              <a:t>  para poder crear compensaciones especificas por ejemplo crear 15 de 150 de planes autorizados, para comenzar a correr los cálculo y no todas de golpe por calendario. Además de retirar el candado de 24 horas.</a:t>
            </a:r>
          </a:p>
        </p:txBody>
      </p:sp>
      <p:pic>
        <p:nvPicPr>
          <p:cNvPr id="6" name="Imagen 5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55F46FCF-6EAE-2EBB-DD58-2D6C6EBE7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2490"/>
            <a:ext cx="12192000" cy="236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5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C977-822E-3835-5967-B25F0423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A0BB0D5D-9292-8661-12B6-29DFDCF1A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149"/>
            <a:ext cx="12192000" cy="343499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669B97C-1387-5377-C9B3-858741CECFFD}"/>
              </a:ext>
            </a:extLst>
          </p:cNvPr>
          <p:cNvSpPr txBox="1"/>
          <p:nvPr/>
        </p:nvSpPr>
        <p:spPr>
          <a:xfrm>
            <a:off x="247650" y="400050"/>
            <a:ext cx="11106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pantalla Compensaciones donde se muestra el listado de las compensaciones generadas, cada línea contenga el importe final generado y muestre grupo asociado además de indicar el numero de personas que contiene dicho grupo.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8FD53EAC-8F57-02CE-3780-C2B8F9040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468" y="4898914"/>
            <a:ext cx="7259063" cy="790685"/>
          </a:xfrm>
          <a:prstGeom prst="rect">
            <a:avLst/>
          </a:prstGeom>
        </p:spPr>
      </p:pic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DA149C2C-C8CE-81AA-F7B2-B49E3E438DC5}"/>
              </a:ext>
            </a:extLst>
          </p:cNvPr>
          <p:cNvSpPr/>
          <p:nvPr/>
        </p:nvSpPr>
        <p:spPr>
          <a:xfrm rot="17771382">
            <a:off x="3777041" y="4002073"/>
            <a:ext cx="1647588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A052A2E3-41CF-9068-0A84-1FCEDF5D5876}"/>
              </a:ext>
            </a:extLst>
          </p:cNvPr>
          <p:cNvSpPr/>
          <p:nvPr/>
        </p:nvSpPr>
        <p:spPr>
          <a:xfrm rot="17771382">
            <a:off x="6606649" y="4002073"/>
            <a:ext cx="1647588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461FA0EF-90CD-20FB-5141-955302B46F92}"/>
              </a:ext>
            </a:extLst>
          </p:cNvPr>
          <p:cNvSpPr/>
          <p:nvPr/>
        </p:nvSpPr>
        <p:spPr>
          <a:xfrm rot="17771382">
            <a:off x="9149141" y="4061798"/>
            <a:ext cx="1647588" cy="3810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6366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A59A0-3293-9F3B-A237-99D47DCA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A6FC5E0-3CDD-CC29-CD49-1F9EA386052D}"/>
              </a:ext>
            </a:extLst>
          </p:cNvPr>
          <p:cNvSpPr txBox="1"/>
          <p:nvPr/>
        </p:nvSpPr>
        <p:spPr>
          <a:xfrm>
            <a:off x="247650" y="400050"/>
            <a:ext cx="1110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En la pantalla Compensaciones todos los informe por plan de pago sean generado en automático y por solicitud.</a:t>
            </a: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C5482993-2819-7A53-3CB5-726F10B59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8171"/>
            <a:ext cx="12192000" cy="2565400"/>
          </a:xfrm>
          <a:prstGeom prst="rect">
            <a:avLst/>
          </a:prstGeom>
        </p:spPr>
      </p:pic>
      <p:pic>
        <p:nvPicPr>
          <p:cNvPr id="9" name="Imagen 8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AC836CF9-8128-AB3C-CCFB-9B3D06BDB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4839"/>
            <a:ext cx="12192000" cy="307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29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8C47-6AB6-5972-752C-9F712E51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B5A38A1-C85A-7886-FDEB-2BE03C58D7A3}"/>
              </a:ext>
            </a:extLst>
          </p:cNvPr>
          <p:cNvSpPr txBox="1"/>
          <p:nvPr/>
        </p:nvSpPr>
        <p:spPr>
          <a:xfrm>
            <a:off x="247650" y="19104"/>
            <a:ext cx="11106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Lote de informes de compensaciones tiene poca funcionalidad. </a:t>
            </a:r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7A1E5EFA-44E6-F5AD-85DC-6C13D51B8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223"/>
            <a:ext cx="12046857" cy="5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8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89421-46B8-658A-ED6F-80D51DD82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7A98387-99F6-6E21-5853-AEDF5CBE68A4}"/>
              </a:ext>
            </a:extLst>
          </p:cNvPr>
          <p:cNvSpPr txBox="1"/>
          <p:nvPr/>
        </p:nvSpPr>
        <p:spPr>
          <a:xfrm>
            <a:off x="247650" y="400050"/>
            <a:ext cx="11106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Se desconocen las siguientes funcionalidades: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BB3A02-F623-325D-8605-ED5C2AB0BB97}"/>
              </a:ext>
            </a:extLst>
          </p:cNvPr>
          <p:cNvSpPr txBox="1"/>
          <p:nvPr/>
        </p:nvSpPr>
        <p:spPr>
          <a:xfrm>
            <a:off x="247649" y="1021139"/>
            <a:ext cx="963657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Explicar el modulo de  Calendario / informe de rendimiento</a:t>
            </a:r>
          </a:p>
          <a:p>
            <a:r>
              <a:rPr lang="es-MX" dirty="0"/>
              <a:t>Explicar el modulo de  Registros / productos</a:t>
            </a:r>
          </a:p>
          <a:p>
            <a:r>
              <a:rPr lang="es-MX" dirty="0"/>
              <a:t>Explicar el modulo de  Registros / clientes</a:t>
            </a:r>
          </a:p>
          <a:p>
            <a:r>
              <a:rPr lang="es-MX" dirty="0"/>
              <a:t>Explicar el modulo de  Incentivos / transaccionales</a:t>
            </a:r>
          </a:p>
          <a:p>
            <a:r>
              <a:rPr lang="es-MX" dirty="0"/>
              <a:t>Explicar el modulo de  Incentivos / clasificaciones</a:t>
            </a:r>
          </a:p>
          <a:p>
            <a:r>
              <a:rPr lang="es-MX" dirty="0"/>
              <a:t>Explicar el modulo de  Planes / campañas</a:t>
            </a:r>
          </a:p>
          <a:p>
            <a:r>
              <a:rPr lang="es-MX" dirty="0"/>
              <a:t>Explicar el modulo de Transacciones / Transacciones </a:t>
            </a:r>
          </a:p>
          <a:p>
            <a:r>
              <a:rPr lang="es-MX" dirty="0"/>
              <a:t>Explicar el modulo de Transacciones / colaborativas</a:t>
            </a:r>
          </a:p>
          <a:p>
            <a:r>
              <a:rPr lang="es-MX" dirty="0"/>
              <a:t>Explicar el modulo de Configuraciones / métrica</a:t>
            </a:r>
          </a:p>
          <a:p>
            <a:r>
              <a:rPr lang="es-MX" dirty="0"/>
              <a:t>Explicar el modulo de Configuraciones / clasificaciones</a:t>
            </a:r>
          </a:p>
          <a:p>
            <a:r>
              <a:rPr lang="es-MX" dirty="0"/>
              <a:t>Explicar el modulo de Configuraciones / estados</a:t>
            </a:r>
          </a:p>
          <a:p>
            <a:r>
              <a:rPr lang="es-MX" dirty="0"/>
              <a:t>Explicar el modulo de Configuraciones / razones de reconocimiento</a:t>
            </a:r>
          </a:p>
        </p:txBody>
      </p:sp>
    </p:spTree>
    <p:extLst>
      <p:ext uri="{BB962C8B-B14F-4D97-AF65-F5344CB8AC3E}">
        <p14:creationId xmlns:p14="http://schemas.microsoft.com/office/powerpoint/2010/main" val="15492283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544</Words>
  <Application>Microsoft Office PowerPoint</Application>
  <PresentationFormat>Panorámica</PresentationFormat>
  <Paragraphs>58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Humberto Bravo</dc:creator>
  <cp:lastModifiedBy>Luis Humberto Bravo</cp:lastModifiedBy>
  <cp:revision>6</cp:revision>
  <dcterms:created xsi:type="dcterms:W3CDTF">2026-01-20T22:55:24Z</dcterms:created>
  <dcterms:modified xsi:type="dcterms:W3CDTF">2026-01-21T00:14:36Z</dcterms:modified>
</cp:coreProperties>
</file>